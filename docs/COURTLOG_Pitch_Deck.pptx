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73152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5400" b="1">
                <a:solidFill>
                  <a:srgbClr val="FFFFFF"/>
                </a:solidFill>
                <a:latin typeface="Calibri"/>
              </a:defRPr>
            </a:pPr>
            <a:r>
              <a:t>COURTLOG</a:t>
            </a:r>
          </a:p>
          <a:p>
            <a:pPr algn="l">
              <a:spcBef>
                <a:spcPts val="0"/>
              </a:spcBef>
              <a:spcAft>
                <a:spcPts val="1600"/>
              </a:spcAft>
              <a:defRPr sz="5400" b="1">
                <a:solidFill>
                  <a:srgbClr val="10B981"/>
                </a:solidFill>
                <a:latin typeface="Calibri"/>
              </a:defRPr>
            </a:pPr>
            <a:r>
              <a:t>2.0</a:t>
            </a:r>
          </a:p>
          <a:p>
            <a:pPr algn="l">
              <a:spcBef>
                <a:spcPts val="0"/>
              </a:spcBef>
              <a:spcAft>
                <a:spcPts val="2000"/>
              </a:spcAft>
              <a:defRPr sz="2200" b="0">
                <a:solidFill>
                  <a:srgbClr val="9CA3AF"/>
                </a:solidFill>
                <a:latin typeface="Calibri"/>
              </a:defRPr>
            </a:pPr>
            <a:r>
              <a:t>Court File Tracking &amp; Adjournment Compliance System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7280"/>
                </a:solidFill>
                <a:latin typeface="Calibri"/>
              </a:defRPr>
            </a:pPr>
            <a:r>
              <a:t>Following a case from filing to enforcement.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754880"/>
            <a:ext cx="4114800" cy="59436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82803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1FAE5"/>
                </a:solidFill>
                <a:latin typeface="Calibri"/>
              </a:defRPr>
            </a:pPr>
            <a:r>
              <a:t>COUCH 2026  ·  Public Sector / e-Governance Track  ·  Best AI Innovation Award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1371600"/>
            <a:ext cx="2286000" cy="3657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0" y="13898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Nigerian Judiciary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0" y="1920240"/>
            <a:ext cx="2286000" cy="3657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0" y="19385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Federal High Court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54864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Nigeria’s courts are losing cases — literally.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7280"/>
                </a:solidFill>
                <a:latin typeface="Calibri"/>
              </a:defRPr>
            </a:pPr>
            <a:r>
              <a:t>Three systemic failures sit outside the reach of ongoing e-filing efforts: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3291840" cy="32004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3200400"/>
            <a:ext cx="502920" cy="4114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2004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43F5E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7947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Files Go Missing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25196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Physical case files disappear between registry and courtroom. No one knows where a file is until someone physically searches for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926080"/>
            <a:ext cx="3291840" cy="32004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17720" y="3200400"/>
            <a:ext cx="502920" cy="4114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32004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7947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Adjournments Compound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425196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Cases are adjourned repeatedly with no early warning system. Delay snowballs silently — some matters stall for years before anyone notices.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926080"/>
            <a:ext cx="3291840" cy="32004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75320" y="3200400"/>
            <a:ext cx="502920" cy="4114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32004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43F5E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7947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Judgments Go Unenforced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425196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Winning a judgment means nothing if enforcement never happens. Writs lapse, sheriffs never act, and non-compliance is invisible to the system.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54864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E-Filing solves document submission. Nothing solves what comes after.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5029200" cy="54864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7280"/>
                </a:solidFill>
                <a:latin typeface="Calibri"/>
              </a:defRPr>
            </a:pPr>
            <a:r>
              <a:t>WHAT E-FILING COVERS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✓  Digital document submission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520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✓  Electronic case registration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0233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✓  Virtual court scheduling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26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✓  Digital records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286000"/>
            <a:ext cx="5029200" cy="54864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331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WHAT COURTLOG COVERS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0175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◉  Physical file custody &amp; QR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520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◉  Adjournment compliance &amp; WhatsApp 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0233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◉  Predictive delay-risk flagging (AI)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526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◉  Post-judgment enforcement &amp; writ generation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10698480" cy="7315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3766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COURTLOG is a complement to e-filing, not a competitor. It covers the physical custody, hearing compliance, delay prediction, and enforcement that e-filing does not reach.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54864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Four modules. One complete lifecycle.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6B7280"/>
                </a:solidFill>
                <a:latin typeface="Calibri"/>
              </a:defRPr>
            </a:pPr>
            <a:r>
              <a:t>COURTLOG follows a case from the moment it is filed to the moment a judgment is actually enforced.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2560320" cy="3474720"/>
          </a:xfrm>
          <a:prstGeom prst="roundRect">
            <a:avLst/>
          </a:prstGeom>
          <a:solidFill>
            <a:srgbClr val="191919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788920"/>
            <a:ext cx="24688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3063240"/>
            <a:ext cx="457200" cy="45720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10B981"/>
                </a:solidFill>
              </a:defRPr>
            </a:pPr>
            <a:r>
              <a:t>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657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QR Chain of Custody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069080"/>
            <a:ext cx="2011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Every file gets a QR code. Scanned at every checkpoint. Flags any file idle for 7+ days.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743200"/>
            <a:ext cx="2560320" cy="3474720"/>
          </a:xfrm>
          <a:prstGeom prst="roundRect">
            <a:avLst/>
          </a:prstGeom>
          <a:solidFill>
            <a:srgbClr val="191919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2788920"/>
            <a:ext cx="24688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840480" y="3063240"/>
            <a:ext cx="457200" cy="45720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10B981"/>
                </a:solidFill>
              </a:defRPr>
            </a:pPr>
            <a:r>
              <a:t>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657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Hearing Compliance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4069080"/>
            <a:ext cx="2011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One-tap call-over logging. Adjournments auto-notify counsel via WhatsApp — the channel registries already use.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743200"/>
            <a:ext cx="2560320" cy="3474720"/>
          </a:xfrm>
          <a:prstGeom prst="roundRect">
            <a:avLst/>
          </a:prstGeom>
          <a:solidFill>
            <a:srgbClr val="191919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2788920"/>
            <a:ext cx="24688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75120" y="3063240"/>
            <a:ext cx="457200" cy="45720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10B981"/>
                </a:solidFill>
              </a:defRPr>
            </a:pPr>
            <a:r>
              <a:t>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657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AI Delay-Risk Predictor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069080"/>
            <a:ext cx="2011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ML model trained on case type, court, adjournments &amp; time flags which cases will stall — before they do.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2743200"/>
            <a:ext cx="2560320" cy="3474720"/>
          </a:xfrm>
          <a:prstGeom prst="roundRect">
            <a:avLst/>
          </a:prstGeom>
          <a:solidFill>
            <a:srgbClr val="191919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81160" y="2788920"/>
            <a:ext cx="24688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09760" y="3063240"/>
            <a:ext cx="457200" cy="45720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10B981"/>
                </a:solidFill>
              </a:defRPr>
            </a:pPr>
            <a:r>
              <a:t>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657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Execution Tracker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4069080"/>
            <a:ext cx="2011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Generates Writ of Fi Fa &amp; Garnishee forms. Logs sheriff actions. Flags 90-day non-compliance.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2377440"/>
            <a:ext cx="10698480" cy="36576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54864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TECH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Built lean, designed to scale.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1645920" cy="64008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1284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1214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Python / FastAPI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4231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Async REST API with automatic compliance sweeps on startup and via scheduled cron endpoint.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71800"/>
            <a:ext cx="1645920" cy="64008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08152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9900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Firestore + JSON fallback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2918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Dual-database pattern: Google Firestore for production, local JSON mock for development. Same interface, zero code changes.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645920" cy="64008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5020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AI / 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858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Scikit-learn Logistic Regression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160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Trained on case type, court, adjournment count, and filing age. Interpretable coefficients. Deterministic heuristic fallback if model unavailable.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59"/>
            <a:ext cx="1645920" cy="64008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818887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Notifications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72744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WhatsApp Business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5029199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Hearing adjournments broadcast via Meta Cloud API format. Integrates with existing registry WhatsApp groups. No SMS cost.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577840"/>
            <a:ext cx="1645920" cy="64008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68756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55961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Single-Page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58978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Real-time SPA with dual theme (dark/light), Chart.js analytics, QR code generation, and legal writ templates.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54864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TECH APPROACH — AI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Predictive Delay-Risk Model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6B7280"/>
                </a:solidFill>
                <a:latin typeface="Calibri"/>
              </a:defRPr>
            </a:pPr>
            <a:r>
              <a:t>The core AI innovation — flagging cases that will stall before they 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5029200" cy="36576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MODEL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2461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▸  Case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52044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Land disputes and admiralty cases show higher delay risk due to procedural complexity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9319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▸  Court Assignment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420624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Certain courts have structural backlogs that correlate with delay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6177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▸  Adjournment 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89204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Each adjournment increases stalling probability by ~12%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3035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▸  Days Since Filing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557784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Time elapsed is a compounding indicator of institutional friction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560320"/>
            <a:ext cx="5212080" cy="36576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MODEL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246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▸  Algorithm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35204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Logistic Regression — chosen for interpretability and explainability to non-technical judiciary stakeholders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▸  Risk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062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0–100% probability score per case, updated on every scan, hearing, or compliance sweep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617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▸  Risk Flag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48920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Binary HIGH RISK flag when score exceeds 70% threshold — triggers dashboard alerts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303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▸  Fallback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55778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Deterministic heuristic ensures the system never fails silently if model files are unavailable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54864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TECH APPROACH —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End-to-end case lifecycle — one system, every stage.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1737360" cy="25603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606040"/>
            <a:ext cx="164592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8346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alibri"/>
              </a:defRPr>
            </a:pPr>
            <a:r>
              <a:t>STAGE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1546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61188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Case registered</a:t>
            </a:r>
            <a:br/>
            <a:r>
              <a:t>QR code generated</a:t>
            </a:r>
            <a:br/>
            <a:r>
              <a:t>Initial risk scored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33832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64E3B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2560320"/>
            <a:ext cx="1737360" cy="25603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606040"/>
            <a:ext cx="164592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28346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alibri"/>
              </a:defRPr>
            </a:pPr>
            <a:r>
              <a:t>STAGE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1546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CUSTODY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361188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File scanned at</a:t>
            </a:r>
            <a:br/>
            <a:r>
              <a:t>checkpoints</a:t>
            </a:r>
            <a:br/>
            <a:r>
              <a:t>7-day idle alerts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33832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64E3B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2560320"/>
            <a:ext cx="1737360" cy="25603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2606040"/>
            <a:ext cx="164592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28346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alibri"/>
              </a:defRPr>
            </a:pPr>
            <a:r>
              <a:t>STAGE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1546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HEARINGS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61188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Outcomes logged</a:t>
            </a:r>
            <a:br/>
            <a:r>
              <a:t>Adjournments counted</a:t>
            </a:r>
            <a:br/>
            <a:r>
              <a:t>WhatsApp sent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33832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64E3B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560320"/>
            <a:ext cx="1737360" cy="25603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2606040"/>
            <a:ext cx="164592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8346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alibri"/>
              </a:defRPr>
            </a:pPr>
            <a:r>
              <a:t>STAGE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1546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PREDICTION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61188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ML model runs</a:t>
            </a:r>
            <a:br/>
            <a:r>
              <a:t>Risk score updated</a:t>
            </a:r>
            <a:br/>
            <a:r>
              <a:t>High-risk flagged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33832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64E3B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2560320"/>
            <a:ext cx="1737360" cy="25603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2606040"/>
            <a:ext cx="164592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28346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alibri"/>
              </a:defRPr>
            </a:pPr>
            <a:r>
              <a:t>STAGE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31546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JUDGMENT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61188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Status transitions</a:t>
            </a:r>
            <a:br/>
            <a:r>
              <a:t>Enforcement clock</a:t>
            </a:r>
            <a:br/>
            <a:r>
              <a:t>begins (90 days)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33832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64E3B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2560320"/>
            <a:ext cx="1737360" cy="25603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04120" y="2606040"/>
            <a:ext cx="164592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95560" y="28346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alibri"/>
              </a:defRPr>
            </a:pPr>
            <a:r>
              <a:t>STAGE 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95560" y="31546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ENFORCEMENT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5560" y="361188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Writs generated</a:t>
            </a:r>
            <a:br/>
            <a:r>
              <a:t>Sheriff logs action</a:t>
            </a:r>
            <a:br/>
            <a:r>
              <a:t>Compliance tracked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577840"/>
            <a:ext cx="10698480" cy="59436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0" y="56509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Every transition triggers a compliance check. The ML model re-scores risk at each stage. WhatsApp notifications fire on adjournments. Nothing falls through the cracks.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54864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Measurable impact across the Nigerian judiciary.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560320" cy="201168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24688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  <a:latin typeface="Calibri"/>
              </a:defRPr>
            </a:pPr>
            <a:r>
              <a:t>7-Day</a:t>
            </a:r>
            <a:br/>
            <a:r>
              <a:t>Alerts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Physical files flagged</a:t>
            </a:r>
            <a:br/>
            <a:r>
              <a:t>before they go missing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286000"/>
            <a:ext cx="2560320" cy="201168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11880" y="2331720"/>
            <a:ext cx="24688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25603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  <a:latin typeface="Calibri"/>
              </a:defRPr>
            </a:pPr>
            <a:r>
              <a:t>90-Day</a:t>
            </a:r>
            <a:br/>
            <a:r>
              <a:t>Compliance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34747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Post-judgment enforcement</a:t>
            </a:r>
            <a:br/>
            <a:r>
              <a:t>tracked and accountable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286000"/>
            <a:ext cx="2560320" cy="201168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2331720"/>
            <a:ext cx="24688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5603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  <a:latin typeface="Calibri"/>
              </a:defRPr>
            </a:pPr>
            <a:r>
              <a:t>Real-Time</a:t>
            </a:r>
            <a:br/>
            <a:r>
              <a:t>WhatsApp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4747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Hearing notices via channels</a:t>
            </a:r>
            <a:br/>
            <a:r>
              <a:t>registries already use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2286000"/>
            <a:ext cx="2560320" cy="201168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81160" y="2331720"/>
            <a:ext cx="24688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25603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  <a:latin typeface="Calibri"/>
              </a:defRPr>
            </a:pPr>
            <a:r>
              <a:t>Predictive</a:t>
            </a:r>
            <a:br/>
            <a:r>
              <a:t>AI Flags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4747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Cases flagged as high-risk</a:t>
            </a:r>
            <a:br/>
            <a:r>
              <a:t>before they stall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754880"/>
            <a:ext cx="10698480" cy="155448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892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1FAE5"/>
                </a:solidFill>
                <a:latin typeface="Calibri"/>
              </a:defRPr>
            </a:pPr>
            <a:r>
              <a:t>INSTITUTIONAL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303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▸  Concept reviewed by Deputy Chief Registrar, Barrister Antonia Oyibo, Federal High Court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5595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▸  Feedback directly shaped the current design (SMS → WhatsApp pivot, e-filing complement positioning)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8155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▸  Formal implementation proposal submitted to the Chief Registrar’s office, pending Chief Judge approval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607161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▸  Named, documented institutional pathway from prototype to adoption — not an assumption of goodwill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54864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TEAM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team behind COURTLOG.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2011680" cy="32004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606040"/>
            <a:ext cx="731520" cy="73152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20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[Name]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931920"/>
            <a:ext cx="1554480" cy="32004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9502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Calibri"/>
              </a:defRPr>
            </a:pPr>
            <a:r>
              <a:t>Team Lead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Project coordination, stakeholder management, submission oversight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286000"/>
            <a:ext cx="2011680" cy="32004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83280" y="2606040"/>
            <a:ext cx="731520" cy="73152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3520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[Name]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1800" y="3931920"/>
            <a:ext cx="1554480" cy="32004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39502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Calibri"/>
              </a:defRPr>
            </a:pPr>
            <a:r>
              <a:t>Law Lead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4348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Legal research, abstract drafting, institutional liaison, court procedure accuracy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2286000"/>
            <a:ext cx="2011680" cy="32004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69280" y="2606040"/>
            <a:ext cx="731520" cy="73152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3520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[Name]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57800" y="3931920"/>
            <a:ext cx="1554480" cy="32004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7800" y="39502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Calibri"/>
              </a:defRPr>
            </a:pPr>
            <a:r>
              <a:t>CS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44348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Full-stack development, system architecture, ML model design &amp; training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2286000"/>
            <a:ext cx="2011680" cy="32004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55280" y="2606040"/>
            <a:ext cx="731520" cy="73152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3520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[Name]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3931920"/>
            <a:ext cx="1554480" cy="32004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3800" y="39502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Calibri"/>
              </a:defRPr>
            </a:pPr>
            <a:r>
              <a:t>CS / Dev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44348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Frontend development, UI/UX design, testing, API integration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0" y="2286000"/>
            <a:ext cx="2011680" cy="32004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241280" y="2606040"/>
            <a:ext cx="731520" cy="73152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3520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[Name]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29800" y="3931920"/>
            <a:ext cx="1554480" cy="32004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29800" y="39502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Calibri"/>
              </a:defRPr>
            </a:pPr>
            <a:r>
              <a:t>CS / Dev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44348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Database design, WhatsApp integration, deployment, QA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03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COURTLOG</a:t>
            </a:r>
          </a:p>
          <a:p>
            <a:pPr algn="ctr">
              <a:spcBef>
                <a:spcPts val="0"/>
              </a:spcBef>
              <a:spcAft>
                <a:spcPts val="2400"/>
              </a:spcAft>
              <a:defRPr sz="4800" b="1">
                <a:solidFill>
                  <a:srgbClr val="10B981"/>
                </a:solidFill>
                <a:latin typeface="Calibri"/>
              </a:defRPr>
            </a:pPr>
            <a:r>
              <a:t>2.0</a:t>
            </a:r>
          </a:p>
          <a:p>
            <a:pPr algn="ctr">
              <a:spcBef>
                <a:spcPts val="0"/>
              </a:spcBef>
              <a:spcAft>
                <a:spcPts val="800"/>
              </a:spcAft>
              <a:defRPr sz="2000" b="0">
                <a:solidFill>
                  <a:srgbClr val="6B7280"/>
                </a:solidFill>
                <a:latin typeface="Calibri"/>
              </a:defRPr>
            </a:pPr>
            <a:r>
              <a:t>From filing to enforcement. Every stage tracked.</a:t>
            </a:r>
          </a:p>
          <a:p>
            <a:pPr algn="ctr">
              <a:spcBef>
                <a:spcPts val="0"/>
              </a:spcBef>
              <a:spcAft>
                <a:spcPts val="3000"/>
              </a:spcAft>
              <a:defRPr sz="2000" b="0">
                <a:solidFill>
                  <a:srgbClr val="6B7280"/>
                </a:solidFill>
                <a:latin typeface="Calibri"/>
              </a:defRPr>
            </a:pPr>
            <a:r>
              <a:t>Every delay flagged. Every judgment followed through.</a:t>
            </a:r>
          </a:p>
          <a:p>
            <a:pPr algn="ctr">
              <a:spcBef>
                <a:spcPts val="0"/>
              </a:spcBef>
              <a:spcAft>
                <a:spcPts val="30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Thank you.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800" b="0">
                <a:solidFill>
                  <a:srgbClr val="10B981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5669280"/>
            <a:ext cx="5760720" cy="50292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383280" y="574243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1FAE5"/>
                </a:solidFill>
                <a:latin typeface="Calibri"/>
              </a:defRPr>
            </a:pPr>
            <a:r>
              <a:t>COUCH 2026  ·  Public Sector / e-Governance  ·  Best AI Innovation Award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